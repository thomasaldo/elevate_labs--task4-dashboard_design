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15E4AC-ACDF-4994-A0C4-B3E4EF0C460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7B0AF06-D792-46DA-8E96-58EE083E8066}">
      <dgm:prSet/>
      <dgm:spPr/>
      <dgm:t>
        <a:bodyPr/>
        <a:lstStyle/>
        <a:p>
          <a:r>
            <a:rPr lang="en-US"/>
            <a:t>Total Sales reached </a:t>
          </a:r>
          <a:r>
            <a:rPr lang="en-US" b="1"/>
            <a:t>2.33 Million</a:t>
          </a:r>
          <a:r>
            <a:rPr lang="en-US"/>
            <a:t>. </a:t>
          </a:r>
        </a:p>
      </dgm:t>
    </dgm:pt>
    <dgm:pt modelId="{98DF5D03-98E3-4D5C-AD5F-CB883A2D7CB0}" type="parTrans" cxnId="{A7F40494-964D-4BE1-BD13-70CB700FF6C6}">
      <dgm:prSet/>
      <dgm:spPr/>
      <dgm:t>
        <a:bodyPr/>
        <a:lstStyle/>
        <a:p>
          <a:endParaRPr lang="en-US"/>
        </a:p>
      </dgm:t>
    </dgm:pt>
    <dgm:pt modelId="{0016675C-5EA2-4258-B0E8-36BF6E20A545}" type="sibTrans" cxnId="{A7F40494-964D-4BE1-BD13-70CB700FF6C6}">
      <dgm:prSet/>
      <dgm:spPr/>
      <dgm:t>
        <a:bodyPr/>
        <a:lstStyle/>
        <a:p>
          <a:endParaRPr lang="en-US"/>
        </a:p>
      </dgm:t>
    </dgm:pt>
    <dgm:pt modelId="{596147C6-59CC-4F01-892E-488F75122187}">
      <dgm:prSet/>
      <dgm:spPr/>
      <dgm:t>
        <a:bodyPr/>
        <a:lstStyle/>
        <a:p>
          <a:r>
            <a:rPr lang="en-US"/>
            <a:t>Total Profit was </a:t>
          </a:r>
          <a:r>
            <a:rPr lang="en-US" b="1"/>
            <a:t>292.30 Thousand</a:t>
          </a:r>
          <a:r>
            <a:rPr lang="en-US"/>
            <a:t> with a </a:t>
          </a:r>
          <a:r>
            <a:rPr lang="en-US" b="1"/>
            <a:t>12.56% Profit Margin</a:t>
          </a:r>
          <a:r>
            <a:rPr lang="en-US"/>
            <a:t>. </a:t>
          </a:r>
        </a:p>
      </dgm:t>
    </dgm:pt>
    <dgm:pt modelId="{793017B7-2160-41B1-B128-5A7B2FC37605}" type="parTrans" cxnId="{35DD4ADD-A78B-404C-94A2-B6EFA088EC82}">
      <dgm:prSet/>
      <dgm:spPr/>
      <dgm:t>
        <a:bodyPr/>
        <a:lstStyle/>
        <a:p>
          <a:endParaRPr lang="en-US"/>
        </a:p>
      </dgm:t>
    </dgm:pt>
    <dgm:pt modelId="{F33D6C7A-F53A-4821-BB4B-F878379D0028}" type="sibTrans" cxnId="{35DD4ADD-A78B-404C-94A2-B6EFA088EC82}">
      <dgm:prSet/>
      <dgm:spPr/>
      <dgm:t>
        <a:bodyPr/>
        <a:lstStyle/>
        <a:p>
          <a:endParaRPr lang="en-US"/>
        </a:p>
      </dgm:t>
    </dgm:pt>
    <dgm:pt modelId="{0996EF41-86DE-47A6-805E-A8C75D1E5786}">
      <dgm:prSet/>
      <dgm:spPr/>
      <dgm:t>
        <a:bodyPr/>
        <a:lstStyle/>
        <a:p>
          <a:r>
            <a:rPr lang="en-US"/>
            <a:t>Technology generated the highest sales. </a:t>
          </a:r>
        </a:p>
      </dgm:t>
    </dgm:pt>
    <dgm:pt modelId="{2B4219A6-BE76-480B-983E-54827FCF2FC7}" type="parTrans" cxnId="{821B7CF5-7DCC-4D84-8F55-A9598563F0F1}">
      <dgm:prSet/>
      <dgm:spPr/>
      <dgm:t>
        <a:bodyPr/>
        <a:lstStyle/>
        <a:p>
          <a:endParaRPr lang="en-US"/>
        </a:p>
      </dgm:t>
    </dgm:pt>
    <dgm:pt modelId="{2D5FDB77-5D3E-4CD1-9D30-355C18883864}" type="sibTrans" cxnId="{821B7CF5-7DCC-4D84-8F55-A9598563F0F1}">
      <dgm:prSet/>
      <dgm:spPr/>
      <dgm:t>
        <a:bodyPr/>
        <a:lstStyle/>
        <a:p>
          <a:endParaRPr lang="en-US"/>
        </a:p>
      </dgm:t>
    </dgm:pt>
    <dgm:pt modelId="{93DF8B28-671E-449A-BFE9-298D46387B28}">
      <dgm:prSet/>
      <dgm:spPr/>
      <dgm:t>
        <a:bodyPr/>
        <a:lstStyle/>
        <a:p>
          <a:r>
            <a:rPr lang="en-US"/>
            <a:t>West region recorded the highest sales. </a:t>
          </a:r>
        </a:p>
      </dgm:t>
    </dgm:pt>
    <dgm:pt modelId="{3BA21354-B541-474B-BC16-85ECD39EA8EC}" type="parTrans" cxnId="{3C50157F-6AA7-4F60-AE13-3E4D445FFD28}">
      <dgm:prSet/>
      <dgm:spPr/>
      <dgm:t>
        <a:bodyPr/>
        <a:lstStyle/>
        <a:p>
          <a:endParaRPr lang="en-US"/>
        </a:p>
      </dgm:t>
    </dgm:pt>
    <dgm:pt modelId="{0DBF68BD-BD09-4477-B609-793B8F17F3D0}" type="sibTrans" cxnId="{3C50157F-6AA7-4F60-AE13-3E4D445FFD28}">
      <dgm:prSet/>
      <dgm:spPr/>
      <dgm:t>
        <a:bodyPr/>
        <a:lstStyle/>
        <a:p>
          <a:endParaRPr lang="en-US"/>
        </a:p>
      </dgm:t>
    </dgm:pt>
    <dgm:pt modelId="{CE05B5BF-3BFB-4FD3-A6FB-1199ECDE4C6E}">
      <dgm:prSet/>
      <dgm:spPr/>
      <dgm:t>
        <a:bodyPr/>
        <a:lstStyle/>
        <a:p>
          <a:r>
            <a:rPr lang="en-US"/>
            <a:t>Consumer segment contributed the largest share of revenue. </a:t>
          </a:r>
        </a:p>
      </dgm:t>
    </dgm:pt>
    <dgm:pt modelId="{A51AD1AC-C42B-4E43-BD3E-7FA1FBA3F197}" type="parTrans" cxnId="{046BCD2C-4243-4660-A29C-461BD4E9BAA8}">
      <dgm:prSet/>
      <dgm:spPr/>
      <dgm:t>
        <a:bodyPr/>
        <a:lstStyle/>
        <a:p>
          <a:endParaRPr lang="en-US"/>
        </a:p>
      </dgm:t>
    </dgm:pt>
    <dgm:pt modelId="{AF299777-8F66-42E1-87FD-7BCF6A209EB8}" type="sibTrans" cxnId="{046BCD2C-4243-4660-A29C-461BD4E9BAA8}">
      <dgm:prSet/>
      <dgm:spPr/>
      <dgm:t>
        <a:bodyPr/>
        <a:lstStyle/>
        <a:p>
          <a:endParaRPr lang="en-US"/>
        </a:p>
      </dgm:t>
    </dgm:pt>
    <dgm:pt modelId="{A5AFA7D6-C999-4D73-8537-144B8A882225}">
      <dgm:prSet/>
      <dgm:spPr/>
      <dgm:t>
        <a:bodyPr/>
        <a:lstStyle/>
        <a:p>
          <a:r>
            <a:rPr lang="en-US"/>
            <a:t>Tables showed negative profitability and require further analysis.</a:t>
          </a:r>
        </a:p>
      </dgm:t>
    </dgm:pt>
    <dgm:pt modelId="{217B5A89-F778-4CCE-AB79-61651E4422CB}" type="parTrans" cxnId="{3662668B-A718-4D04-9124-7BC5545412FA}">
      <dgm:prSet/>
      <dgm:spPr/>
      <dgm:t>
        <a:bodyPr/>
        <a:lstStyle/>
        <a:p>
          <a:endParaRPr lang="en-US"/>
        </a:p>
      </dgm:t>
    </dgm:pt>
    <dgm:pt modelId="{B9A0C6F6-08DC-43BB-94C7-6859C71D74D5}" type="sibTrans" cxnId="{3662668B-A718-4D04-9124-7BC5545412FA}">
      <dgm:prSet/>
      <dgm:spPr/>
      <dgm:t>
        <a:bodyPr/>
        <a:lstStyle/>
        <a:p>
          <a:endParaRPr lang="en-US"/>
        </a:p>
      </dgm:t>
    </dgm:pt>
    <dgm:pt modelId="{1253BE9F-3728-453F-9563-6C3BD3B143CD}" type="pres">
      <dgm:prSet presAssocID="{DD15E4AC-ACDF-4994-A0C4-B3E4EF0C460A}" presName="diagram" presStyleCnt="0">
        <dgm:presLayoutVars>
          <dgm:dir/>
          <dgm:resizeHandles val="exact"/>
        </dgm:presLayoutVars>
      </dgm:prSet>
      <dgm:spPr/>
    </dgm:pt>
    <dgm:pt modelId="{381E606A-D6DE-4D53-A221-27713BA98F80}" type="pres">
      <dgm:prSet presAssocID="{B7B0AF06-D792-46DA-8E96-58EE083E8066}" presName="node" presStyleLbl="node1" presStyleIdx="0" presStyleCnt="6">
        <dgm:presLayoutVars>
          <dgm:bulletEnabled val="1"/>
        </dgm:presLayoutVars>
      </dgm:prSet>
      <dgm:spPr/>
    </dgm:pt>
    <dgm:pt modelId="{22B47F19-28B1-443A-AA38-ED0A5232B628}" type="pres">
      <dgm:prSet presAssocID="{0016675C-5EA2-4258-B0E8-36BF6E20A545}" presName="sibTrans" presStyleCnt="0"/>
      <dgm:spPr/>
    </dgm:pt>
    <dgm:pt modelId="{F99B8ABD-7B90-4350-B6C6-F8B41F72B061}" type="pres">
      <dgm:prSet presAssocID="{596147C6-59CC-4F01-892E-488F75122187}" presName="node" presStyleLbl="node1" presStyleIdx="1" presStyleCnt="6">
        <dgm:presLayoutVars>
          <dgm:bulletEnabled val="1"/>
        </dgm:presLayoutVars>
      </dgm:prSet>
      <dgm:spPr/>
    </dgm:pt>
    <dgm:pt modelId="{176272F0-3787-4987-9617-939E48D82EAC}" type="pres">
      <dgm:prSet presAssocID="{F33D6C7A-F53A-4821-BB4B-F878379D0028}" presName="sibTrans" presStyleCnt="0"/>
      <dgm:spPr/>
    </dgm:pt>
    <dgm:pt modelId="{38C62622-5EDE-41D1-B0C9-FF21019244B1}" type="pres">
      <dgm:prSet presAssocID="{0996EF41-86DE-47A6-805E-A8C75D1E5786}" presName="node" presStyleLbl="node1" presStyleIdx="2" presStyleCnt="6">
        <dgm:presLayoutVars>
          <dgm:bulletEnabled val="1"/>
        </dgm:presLayoutVars>
      </dgm:prSet>
      <dgm:spPr/>
    </dgm:pt>
    <dgm:pt modelId="{0E5442D7-2F24-4701-A8D3-5634D548C679}" type="pres">
      <dgm:prSet presAssocID="{2D5FDB77-5D3E-4CD1-9D30-355C18883864}" presName="sibTrans" presStyleCnt="0"/>
      <dgm:spPr/>
    </dgm:pt>
    <dgm:pt modelId="{F4C30AAA-4F05-4B65-92F0-8A5C83FDBBB8}" type="pres">
      <dgm:prSet presAssocID="{93DF8B28-671E-449A-BFE9-298D46387B28}" presName="node" presStyleLbl="node1" presStyleIdx="3" presStyleCnt="6">
        <dgm:presLayoutVars>
          <dgm:bulletEnabled val="1"/>
        </dgm:presLayoutVars>
      </dgm:prSet>
      <dgm:spPr/>
    </dgm:pt>
    <dgm:pt modelId="{B529B775-D161-4F30-A755-0634D64E21A2}" type="pres">
      <dgm:prSet presAssocID="{0DBF68BD-BD09-4477-B609-793B8F17F3D0}" presName="sibTrans" presStyleCnt="0"/>
      <dgm:spPr/>
    </dgm:pt>
    <dgm:pt modelId="{609D3315-8AC7-4B6E-9F37-4AC6D024239F}" type="pres">
      <dgm:prSet presAssocID="{CE05B5BF-3BFB-4FD3-A6FB-1199ECDE4C6E}" presName="node" presStyleLbl="node1" presStyleIdx="4" presStyleCnt="6">
        <dgm:presLayoutVars>
          <dgm:bulletEnabled val="1"/>
        </dgm:presLayoutVars>
      </dgm:prSet>
      <dgm:spPr/>
    </dgm:pt>
    <dgm:pt modelId="{FEB3D5A3-7765-4B7E-90A7-5D3E31E8160C}" type="pres">
      <dgm:prSet presAssocID="{AF299777-8F66-42E1-87FD-7BCF6A209EB8}" presName="sibTrans" presStyleCnt="0"/>
      <dgm:spPr/>
    </dgm:pt>
    <dgm:pt modelId="{799EC2B6-ABE8-4448-8881-DDB2843DC66E}" type="pres">
      <dgm:prSet presAssocID="{A5AFA7D6-C999-4D73-8537-144B8A882225}" presName="node" presStyleLbl="node1" presStyleIdx="5" presStyleCnt="6">
        <dgm:presLayoutVars>
          <dgm:bulletEnabled val="1"/>
        </dgm:presLayoutVars>
      </dgm:prSet>
      <dgm:spPr/>
    </dgm:pt>
  </dgm:ptLst>
  <dgm:cxnLst>
    <dgm:cxn modelId="{001F6114-BDB1-4950-954D-1B72CE8D6A05}" type="presOf" srcId="{0996EF41-86DE-47A6-805E-A8C75D1E5786}" destId="{38C62622-5EDE-41D1-B0C9-FF21019244B1}" srcOrd="0" destOrd="0" presId="urn:microsoft.com/office/officeart/2005/8/layout/default"/>
    <dgm:cxn modelId="{046BCD2C-4243-4660-A29C-461BD4E9BAA8}" srcId="{DD15E4AC-ACDF-4994-A0C4-B3E4EF0C460A}" destId="{CE05B5BF-3BFB-4FD3-A6FB-1199ECDE4C6E}" srcOrd="4" destOrd="0" parTransId="{A51AD1AC-C42B-4E43-BD3E-7FA1FBA3F197}" sibTransId="{AF299777-8F66-42E1-87FD-7BCF6A209EB8}"/>
    <dgm:cxn modelId="{07B33037-B1D1-4C4F-A68D-3BE9E698ACE5}" type="presOf" srcId="{596147C6-59CC-4F01-892E-488F75122187}" destId="{F99B8ABD-7B90-4350-B6C6-F8B41F72B061}" srcOrd="0" destOrd="0" presId="urn:microsoft.com/office/officeart/2005/8/layout/default"/>
    <dgm:cxn modelId="{32A4B437-260B-4843-915A-8C9A4840E43F}" type="presOf" srcId="{CE05B5BF-3BFB-4FD3-A6FB-1199ECDE4C6E}" destId="{609D3315-8AC7-4B6E-9F37-4AC6D024239F}" srcOrd="0" destOrd="0" presId="urn:microsoft.com/office/officeart/2005/8/layout/default"/>
    <dgm:cxn modelId="{25FF7A60-3243-43EB-A05E-7EC863721D12}" type="presOf" srcId="{DD15E4AC-ACDF-4994-A0C4-B3E4EF0C460A}" destId="{1253BE9F-3728-453F-9563-6C3BD3B143CD}" srcOrd="0" destOrd="0" presId="urn:microsoft.com/office/officeart/2005/8/layout/default"/>
    <dgm:cxn modelId="{3C50157F-6AA7-4F60-AE13-3E4D445FFD28}" srcId="{DD15E4AC-ACDF-4994-A0C4-B3E4EF0C460A}" destId="{93DF8B28-671E-449A-BFE9-298D46387B28}" srcOrd="3" destOrd="0" parTransId="{3BA21354-B541-474B-BC16-85ECD39EA8EC}" sibTransId="{0DBF68BD-BD09-4477-B609-793B8F17F3D0}"/>
    <dgm:cxn modelId="{3662668B-A718-4D04-9124-7BC5545412FA}" srcId="{DD15E4AC-ACDF-4994-A0C4-B3E4EF0C460A}" destId="{A5AFA7D6-C999-4D73-8537-144B8A882225}" srcOrd="5" destOrd="0" parTransId="{217B5A89-F778-4CCE-AB79-61651E4422CB}" sibTransId="{B9A0C6F6-08DC-43BB-94C7-6859C71D74D5}"/>
    <dgm:cxn modelId="{A7F40494-964D-4BE1-BD13-70CB700FF6C6}" srcId="{DD15E4AC-ACDF-4994-A0C4-B3E4EF0C460A}" destId="{B7B0AF06-D792-46DA-8E96-58EE083E8066}" srcOrd="0" destOrd="0" parTransId="{98DF5D03-98E3-4D5C-AD5F-CB883A2D7CB0}" sibTransId="{0016675C-5EA2-4258-B0E8-36BF6E20A545}"/>
    <dgm:cxn modelId="{E3D451D4-E6EA-4AC6-826E-B0D974F2913F}" type="presOf" srcId="{93DF8B28-671E-449A-BFE9-298D46387B28}" destId="{F4C30AAA-4F05-4B65-92F0-8A5C83FDBBB8}" srcOrd="0" destOrd="0" presId="urn:microsoft.com/office/officeart/2005/8/layout/default"/>
    <dgm:cxn modelId="{35DD4ADD-A78B-404C-94A2-B6EFA088EC82}" srcId="{DD15E4AC-ACDF-4994-A0C4-B3E4EF0C460A}" destId="{596147C6-59CC-4F01-892E-488F75122187}" srcOrd="1" destOrd="0" parTransId="{793017B7-2160-41B1-B128-5A7B2FC37605}" sibTransId="{F33D6C7A-F53A-4821-BB4B-F878379D0028}"/>
    <dgm:cxn modelId="{821B7CF5-7DCC-4D84-8F55-A9598563F0F1}" srcId="{DD15E4AC-ACDF-4994-A0C4-B3E4EF0C460A}" destId="{0996EF41-86DE-47A6-805E-A8C75D1E5786}" srcOrd="2" destOrd="0" parTransId="{2B4219A6-BE76-480B-983E-54827FCF2FC7}" sibTransId="{2D5FDB77-5D3E-4CD1-9D30-355C18883864}"/>
    <dgm:cxn modelId="{B509E1FA-8754-4FE2-8A1B-689DFFF0EABB}" type="presOf" srcId="{A5AFA7D6-C999-4D73-8537-144B8A882225}" destId="{799EC2B6-ABE8-4448-8881-DDB2843DC66E}" srcOrd="0" destOrd="0" presId="urn:microsoft.com/office/officeart/2005/8/layout/default"/>
    <dgm:cxn modelId="{4E17BDFF-E6CC-4179-A884-5A52922822C8}" type="presOf" srcId="{B7B0AF06-D792-46DA-8E96-58EE083E8066}" destId="{381E606A-D6DE-4D53-A221-27713BA98F80}" srcOrd="0" destOrd="0" presId="urn:microsoft.com/office/officeart/2005/8/layout/default"/>
    <dgm:cxn modelId="{4CF0957F-43BD-4B6C-AA2A-1FE98694FFEE}" type="presParOf" srcId="{1253BE9F-3728-453F-9563-6C3BD3B143CD}" destId="{381E606A-D6DE-4D53-A221-27713BA98F80}" srcOrd="0" destOrd="0" presId="urn:microsoft.com/office/officeart/2005/8/layout/default"/>
    <dgm:cxn modelId="{2C5210AA-DFD8-496D-9BDA-41857D44E98E}" type="presParOf" srcId="{1253BE9F-3728-453F-9563-6C3BD3B143CD}" destId="{22B47F19-28B1-443A-AA38-ED0A5232B628}" srcOrd="1" destOrd="0" presId="urn:microsoft.com/office/officeart/2005/8/layout/default"/>
    <dgm:cxn modelId="{1921E118-6095-48DF-A25C-13AA6E0F7FFC}" type="presParOf" srcId="{1253BE9F-3728-453F-9563-6C3BD3B143CD}" destId="{F99B8ABD-7B90-4350-B6C6-F8B41F72B061}" srcOrd="2" destOrd="0" presId="urn:microsoft.com/office/officeart/2005/8/layout/default"/>
    <dgm:cxn modelId="{98EF5646-4091-4361-9729-3E53B260C066}" type="presParOf" srcId="{1253BE9F-3728-453F-9563-6C3BD3B143CD}" destId="{176272F0-3787-4987-9617-939E48D82EAC}" srcOrd="3" destOrd="0" presId="urn:microsoft.com/office/officeart/2005/8/layout/default"/>
    <dgm:cxn modelId="{4AC358D5-1A39-4DFA-9A87-85D240197C4E}" type="presParOf" srcId="{1253BE9F-3728-453F-9563-6C3BD3B143CD}" destId="{38C62622-5EDE-41D1-B0C9-FF21019244B1}" srcOrd="4" destOrd="0" presId="urn:microsoft.com/office/officeart/2005/8/layout/default"/>
    <dgm:cxn modelId="{5DEF377F-3F6E-46E0-9F4B-C6D2B694926E}" type="presParOf" srcId="{1253BE9F-3728-453F-9563-6C3BD3B143CD}" destId="{0E5442D7-2F24-4701-A8D3-5634D548C679}" srcOrd="5" destOrd="0" presId="urn:microsoft.com/office/officeart/2005/8/layout/default"/>
    <dgm:cxn modelId="{422489C9-0A2A-4E40-83E0-91950538E310}" type="presParOf" srcId="{1253BE9F-3728-453F-9563-6C3BD3B143CD}" destId="{F4C30AAA-4F05-4B65-92F0-8A5C83FDBBB8}" srcOrd="6" destOrd="0" presId="urn:microsoft.com/office/officeart/2005/8/layout/default"/>
    <dgm:cxn modelId="{61E4B39E-3C21-4F89-A434-87BBF1A0C07F}" type="presParOf" srcId="{1253BE9F-3728-453F-9563-6C3BD3B143CD}" destId="{B529B775-D161-4F30-A755-0634D64E21A2}" srcOrd="7" destOrd="0" presId="urn:microsoft.com/office/officeart/2005/8/layout/default"/>
    <dgm:cxn modelId="{4BB8F06B-840E-40A5-BB6C-EAEA45F4D6C5}" type="presParOf" srcId="{1253BE9F-3728-453F-9563-6C3BD3B143CD}" destId="{609D3315-8AC7-4B6E-9F37-4AC6D024239F}" srcOrd="8" destOrd="0" presId="urn:microsoft.com/office/officeart/2005/8/layout/default"/>
    <dgm:cxn modelId="{738B3410-5310-483F-825D-559298B254D4}" type="presParOf" srcId="{1253BE9F-3728-453F-9563-6C3BD3B143CD}" destId="{FEB3D5A3-7765-4B7E-90A7-5D3E31E8160C}" srcOrd="9" destOrd="0" presId="urn:microsoft.com/office/officeart/2005/8/layout/default"/>
    <dgm:cxn modelId="{DEBF4810-F5EB-4674-8FAB-40986EFC57BC}" type="presParOf" srcId="{1253BE9F-3728-453F-9563-6C3BD3B143CD}" destId="{799EC2B6-ABE8-4448-8881-DDB2843DC66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57A826-D97A-4B80-8EF3-B7EFE43D83C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CDDEE3-E86E-4BC6-9A3A-66321C68BE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Increase focus on Technology products. </a:t>
          </a:r>
        </a:p>
      </dgm:t>
    </dgm:pt>
    <dgm:pt modelId="{EF0C32DE-8F26-4B94-87AC-A58A152FDB6E}" type="parTrans" cxnId="{C02C73E8-E880-4F72-A626-333C0A40D563}">
      <dgm:prSet/>
      <dgm:spPr/>
      <dgm:t>
        <a:bodyPr/>
        <a:lstStyle/>
        <a:p>
          <a:endParaRPr lang="en-US"/>
        </a:p>
      </dgm:t>
    </dgm:pt>
    <dgm:pt modelId="{03BFE4F7-03B7-426F-8A13-D7CBAF2967BE}" type="sibTrans" cxnId="{C02C73E8-E880-4F72-A626-333C0A40D56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DDE9CDD-584F-4106-9188-83493CA273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Review pricing and discounts for low-profit products. </a:t>
          </a:r>
        </a:p>
      </dgm:t>
    </dgm:pt>
    <dgm:pt modelId="{21E219A1-220D-4024-8048-66471DEC03A6}" type="parTrans" cxnId="{E6CA49C3-C5F4-4424-8051-883B597C1C3E}">
      <dgm:prSet/>
      <dgm:spPr/>
      <dgm:t>
        <a:bodyPr/>
        <a:lstStyle/>
        <a:p>
          <a:endParaRPr lang="en-US"/>
        </a:p>
      </dgm:t>
    </dgm:pt>
    <dgm:pt modelId="{E2CAFE67-DB91-43CD-AF7F-0B1589FA32E1}" type="sibTrans" cxnId="{E6CA49C3-C5F4-4424-8051-883B597C1C3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5A496AC-2D82-427B-8DBD-DDACEA41B8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Strengthen marketing in high-performing regions. </a:t>
          </a:r>
        </a:p>
      </dgm:t>
    </dgm:pt>
    <dgm:pt modelId="{A3DB9F21-886E-4BB1-9430-C0AA84D9827E}" type="parTrans" cxnId="{55D4DA86-C51C-4004-A6E1-AE5EF01A209C}">
      <dgm:prSet/>
      <dgm:spPr/>
      <dgm:t>
        <a:bodyPr/>
        <a:lstStyle/>
        <a:p>
          <a:endParaRPr lang="en-US"/>
        </a:p>
      </dgm:t>
    </dgm:pt>
    <dgm:pt modelId="{DBE771C4-BC63-4D0F-99D7-2F33CE493DD0}" type="sibTrans" cxnId="{55D4DA86-C51C-4004-A6E1-AE5EF01A209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FD570D-B812-496F-8559-BD37413967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dashboard filters for better decision-making. </a:t>
          </a:r>
        </a:p>
      </dgm:t>
    </dgm:pt>
    <dgm:pt modelId="{A1FA0611-1A12-4C6B-9C80-857BFD4FB17A}" type="parTrans" cxnId="{9E0457F6-9C7C-4715-BE79-91E6F7BF98BA}">
      <dgm:prSet/>
      <dgm:spPr/>
      <dgm:t>
        <a:bodyPr/>
        <a:lstStyle/>
        <a:p>
          <a:endParaRPr lang="en-US"/>
        </a:p>
      </dgm:t>
    </dgm:pt>
    <dgm:pt modelId="{BD8FC695-A8FB-4845-B383-D9BB836EC349}" type="sibTrans" cxnId="{9E0457F6-9C7C-4715-BE79-91E6F7BF98B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B60167A-C46F-46D3-ACA8-2B12B7E2B3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Monitor KPIs regularly to improve business performance.</a:t>
          </a:r>
        </a:p>
      </dgm:t>
    </dgm:pt>
    <dgm:pt modelId="{C5A6811F-8B9C-4C16-951C-5C331AF623CD}" type="parTrans" cxnId="{8D49906F-0F36-4F03-9410-397E41EC026C}">
      <dgm:prSet/>
      <dgm:spPr/>
      <dgm:t>
        <a:bodyPr/>
        <a:lstStyle/>
        <a:p>
          <a:endParaRPr lang="en-US"/>
        </a:p>
      </dgm:t>
    </dgm:pt>
    <dgm:pt modelId="{2023487E-42C1-43C9-B74B-434CE71A3B0C}" type="sibTrans" cxnId="{8D49906F-0F36-4F03-9410-397E41EC026C}">
      <dgm:prSet/>
      <dgm:spPr/>
      <dgm:t>
        <a:bodyPr/>
        <a:lstStyle/>
        <a:p>
          <a:endParaRPr lang="en-US"/>
        </a:p>
      </dgm:t>
    </dgm:pt>
    <dgm:pt modelId="{572C7286-6B87-4758-AAF7-7CA2118D7937}" type="pres">
      <dgm:prSet presAssocID="{0457A826-D97A-4B80-8EF3-B7EFE43D83C3}" presName="root" presStyleCnt="0">
        <dgm:presLayoutVars>
          <dgm:dir/>
          <dgm:resizeHandles val="exact"/>
        </dgm:presLayoutVars>
      </dgm:prSet>
      <dgm:spPr/>
    </dgm:pt>
    <dgm:pt modelId="{DFFBD0F7-07AE-4C1C-B288-8509A9B05F60}" type="pres">
      <dgm:prSet presAssocID="{0457A826-D97A-4B80-8EF3-B7EFE43D83C3}" presName="container" presStyleCnt="0">
        <dgm:presLayoutVars>
          <dgm:dir/>
          <dgm:resizeHandles val="exact"/>
        </dgm:presLayoutVars>
      </dgm:prSet>
      <dgm:spPr/>
    </dgm:pt>
    <dgm:pt modelId="{FACAE643-6DB1-44BC-9A8C-3A9615CF5747}" type="pres">
      <dgm:prSet presAssocID="{02CDDEE3-E86E-4BC6-9A3A-66321C68BEDF}" presName="compNode" presStyleCnt="0"/>
      <dgm:spPr/>
    </dgm:pt>
    <dgm:pt modelId="{8A4C7BB0-7287-4F98-955D-33DEB69D95F8}" type="pres">
      <dgm:prSet presAssocID="{02CDDEE3-E86E-4BC6-9A3A-66321C68BEDF}" presName="iconBgRect" presStyleLbl="bgShp" presStyleIdx="0" presStyleCnt="5"/>
      <dgm:spPr/>
    </dgm:pt>
    <dgm:pt modelId="{D021B788-CDFC-4532-BDFD-A039EE962568}" type="pres">
      <dgm:prSet presAssocID="{02CDDEE3-E86E-4BC6-9A3A-66321C68BED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C47726D-561E-4D04-9614-2543835D3EBD}" type="pres">
      <dgm:prSet presAssocID="{02CDDEE3-E86E-4BC6-9A3A-66321C68BEDF}" presName="spaceRect" presStyleCnt="0"/>
      <dgm:spPr/>
    </dgm:pt>
    <dgm:pt modelId="{897C90AC-F6D4-4DCC-8BC4-C4024C9F4E4F}" type="pres">
      <dgm:prSet presAssocID="{02CDDEE3-E86E-4BC6-9A3A-66321C68BEDF}" presName="textRect" presStyleLbl="revTx" presStyleIdx="0" presStyleCnt="5">
        <dgm:presLayoutVars>
          <dgm:chMax val="1"/>
          <dgm:chPref val="1"/>
        </dgm:presLayoutVars>
      </dgm:prSet>
      <dgm:spPr/>
    </dgm:pt>
    <dgm:pt modelId="{644392A6-0E26-4A78-AEFB-E1C2D4EA741D}" type="pres">
      <dgm:prSet presAssocID="{03BFE4F7-03B7-426F-8A13-D7CBAF2967BE}" presName="sibTrans" presStyleLbl="sibTrans2D1" presStyleIdx="0" presStyleCnt="0"/>
      <dgm:spPr/>
    </dgm:pt>
    <dgm:pt modelId="{438149BA-5B4C-4E73-B7A2-5C2088438E91}" type="pres">
      <dgm:prSet presAssocID="{8DDE9CDD-584F-4106-9188-83493CA273B1}" presName="compNode" presStyleCnt="0"/>
      <dgm:spPr/>
    </dgm:pt>
    <dgm:pt modelId="{20F108F0-C955-4261-8B92-7246CEE38A4D}" type="pres">
      <dgm:prSet presAssocID="{8DDE9CDD-584F-4106-9188-83493CA273B1}" presName="iconBgRect" presStyleLbl="bgShp" presStyleIdx="1" presStyleCnt="5"/>
      <dgm:spPr/>
    </dgm:pt>
    <dgm:pt modelId="{739BE413-7501-4617-B470-FD0E7EFB03DB}" type="pres">
      <dgm:prSet presAssocID="{8DDE9CDD-584F-4106-9188-83493CA273B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1E98F3CC-1C15-40BA-A07D-4FA2D27D9B29}" type="pres">
      <dgm:prSet presAssocID="{8DDE9CDD-584F-4106-9188-83493CA273B1}" presName="spaceRect" presStyleCnt="0"/>
      <dgm:spPr/>
    </dgm:pt>
    <dgm:pt modelId="{EA88A2D9-B6EA-4A9A-B808-601612B3D12C}" type="pres">
      <dgm:prSet presAssocID="{8DDE9CDD-584F-4106-9188-83493CA273B1}" presName="textRect" presStyleLbl="revTx" presStyleIdx="1" presStyleCnt="5">
        <dgm:presLayoutVars>
          <dgm:chMax val="1"/>
          <dgm:chPref val="1"/>
        </dgm:presLayoutVars>
      </dgm:prSet>
      <dgm:spPr/>
    </dgm:pt>
    <dgm:pt modelId="{75606B48-441B-4AE3-8BBA-D6202C489C19}" type="pres">
      <dgm:prSet presAssocID="{E2CAFE67-DB91-43CD-AF7F-0B1589FA32E1}" presName="sibTrans" presStyleLbl="sibTrans2D1" presStyleIdx="0" presStyleCnt="0"/>
      <dgm:spPr/>
    </dgm:pt>
    <dgm:pt modelId="{E201D27B-2B02-4747-8D26-5259181C657F}" type="pres">
      <dgm:prSet presAssocID="{D5A496AC-2D82-427B-8DBD-DDACEA41B834}" presName="compNode" presStyleCnt="0"/>
      <dgm:spPr/>
    </dgm:pt>
    <dgm:pt modelId="{1241C93A-C548-40F1-9762-B818458CA1A4}" type="pres">
      <dgm:prSet presAssocID="{D5A496AC-2D82-427B-8DBD-DDACEA41B834}" presName="iconBgRect" presStyleLbl="bgShp" presStyleIdx="2" presStyleCnt="5"/>
      <dgm:spPr/>
    </dgm:pt>
    <dgm:pt modelId="{9B26DAD1-9119-4663-8DA9-6F8456F1B026}" type="pres">
      <dgm:prSet presAssocID="{D5A496AC-2D82-427B-8DBD-DDACEA41B83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BEEAAE88-C25A-41A1-80D2-ABF05A2DE6F5}" type="pres">
      <dgm:prSet presAssocID="{D5A496AC-2D82-427B-8DBD-DDACEA41B834}" presName="spaceRect" presStyleCnt="0"/>
      <dgm:spPr/>
    </dgm:pt>
    <dgm:pt modelId="{0E4A2A6B-F8BC-45CB-A33F-5DFFCAC31835}" type="pres">
      <dgm:prSet presAssocID="{D5A496AC-2D82-427B-8DBD-DDACEA41B834}" presName="textRect" presStyleLbl="revTx" presStyleIdx="2" presStyleCnt="5">
        <dgm:presLayoutVars>
          <dgm:chMax val="1"/>
          <dgm:chPref val="1"/>
        </dgm:presLayoutVars>
      </dgm:prSet>
      <dgm:spPr/>
    </dgm:pt>
    <dgm:pt modelId="{7FBBF094-607E-47A6-8C9A-11EE51ED9069}" type="pres">
      <dgm:prSet presAssocID="{DBE771C4-BC63-4D0F-99D7-2F33CE493DD0}" presName="sibTrans" presStyleLbl="sibTrans2D1" presStyleIdx="0" presStyleCnt="0"/>
      <dgm:spPr/>
    </dgm:pt>
    <dgm:pt modelId="{725D65C8-2260-45CA-A7B7-1CCCA70DE681}" type="pres">
      <dgm:prSet presAssocID="{FDFD570D-B812-496F-8559-BD37413967E1}" presName="compNode" presStyleCnt="0"/>
      <dgm:spPr/>
    </dgm:pt>
    <dgm:pt modelId="{C76032BA-EF7E-4F69-B9E9-31537741BA10}" type="pres">
      <dgm:prSet presAssocID="{FDFD570D-B812-496F-8559-BD37413967E1}" presName="iconBgRect" presStyleLbl="bgShp" presStyleIdx="3" presStyleCnt="5"/>
      <dgm:spPr/>
    </dgm:pt>
    <dgm:pt modelId="{4B4A7A5F-7759-489D-AE1C-4C5381F37660}" type="pres">
      <dgm:prSet presAssocID="{FDFD570D-B812-496F-8559-BD37413967E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3206C3BF-8DDD-4099-A3AA-FFD74000225B}" type="pres">
      <dgm:prSet presAssocID="{FDFD570D-B812-496F-8559-BD37413967E1}" presName="spaceRect" presStyleCnt="0"/>
      <dgm:spPr/>
    </dgm:pt>
    <dgm:pt modelId="{E3BCAE70-3BDB-4DB5-A7B1-8D9471B6844B}" type="pres">
      <dgm:prSet presAssocID="{FDFD570D-B812-496F-8559-BD37413967E1}" presName="textRect" presStyleLbl="revTx" presStyleIdx="3" presStyleCnt="5">
        <dgm:presLayoutVars>
          <dgm:chMax val="1"/>
          <dgm:chPref val="1"/>
        </dgm:presLayoutVars>
      </dgm:prSet>
      <dgm:spPr/>
    </dgm:pt>
    <dgm:pt modelId="{8C613FBB-E93B-49BF-BBCF-28CF9DBFD622}" type="pres">
      <dgm:prSet presAssocID="{BD8FC695-A8FB-4845-B383-D9BB836EC349}" presName="sibTrans" presStyleLbl="sibTrans2D1" presStyleIdx="0" presStyleCnt="0"/>
      <dgm:spPr/>
    </dgm:pt>
    <dgm:pt modelId="{8F16CBBC-4A28-42D1-99DD-C57C1429E7ED}" type="pres">
      <dgm:prSet presAssocID="{9B60167A-C46F-46D3-ACA8-2B12B7E2B3F7}" presName="compNode" presStyleCnt="0"/>
      <dgm:spPr/>
    </dgm:pt>
    <dgm:pt modelId="{2F64811D-6DB3-412D-804B-C3A72E4A40B8}" type="pres">
      <dgm:prSet presAssocID="{9B60167A-C46F-46D3-ACA8-2B12B7E2B3F7}" presName="iconBgRect" presStyleLbl="bgShp" presStyleIdx="4" presStyleCnt="5"/>
      <dgm:spPr/>
    </dgm:pt>
    <dgm:pt modelId="{95699980-F9AC-4E0C-A27F-69726D71B9E5}" type="pres">
      <dgm:prSet presAssocID="{9B60167A-C46F-46D3-ACA8-2B12B7E2B3F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B48E891-A9A8-4F7A-96A3-D2B14FEDE33A}" type="pres">
      <dgm:prSet presAssocID="{9B60167A-C46F-46D3-ACA8-2B12B7E2B3F7}" presName="spaceRect" presStyleCnt="0"/>
      <dgm:spPr/>
    </dgm:pt>
    <dgm:pt modelId="{64A4BA14-08D2-4057-ACB5-B4266538E5FC}" type="pres">
      <dgm:prSet presAssocID="{9B60167A-C46F-46D3-ACA8-2B12B7E2B3F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47EDA1C-E430-47FA-A612-CBDD08EDD381}" type="presOf" srcId="{DBE771C4-BC63-4D0F-99D7-2F33CE493DD0}" destId="{7FBBF094-607E-47A6-8C9A-11EE51ED9069}" srcOrd="0" destOrd="0" presId="urn:microsoft.com/office/officeart/2018/2/layout/IconCircleList"/>
    <dgm:cxn modelId="{08AD312E-3EE2-4AEB-9364-8EE443138DE5}" type="presOf" srcId="{8DDE9CDD-584F-4106-9188-83493CA273B1}" destId="{EA88A2D9-B6EA-4A9A-B808-601612B3D12C}" srcOrd="0" destOrd="0" presId="urn:microsoft.com/office/officeart/2018/2/layout/IconCircleList"/>
    <dgm:cxn modelId="{79BFD634-A200-4434-A081-118D1FC7B1EC}" type="presOf" srcId="{02CDDEE3-E86E-4BC6-9A3A-66321C68BEDF}" destId="{897C90AC-F6D4-4DCC-8BC4-C4024C9F4E4F}" srcOrd="0" destOrd="0" presId="urn:microsoft.com/office/officeart/2018/2/layout/IconCircleList"/>
    <dgm:cxn modelId="{1C54ED66-B1AC-4E07-A6E2-D1CF3D0A8B0C}" type="presOf" srcId="{FDFD570D-B812-496F-8559-BD37413967E1}" destId="{E3BCAE70-3BDB-4DB5-A7B1-8D9471B6844B}" srcOrd="0" destOrd="0" presId="urn:microsoft.com/office/officeart/2018/2/layout/IconCircleList"/>
    <dgm:cxn modelId="{E75BC449-2EF0-4690-A91E-1F530DF494C1}" type="presOf" srcId="{D5A496AC-2D82-427B-8DBD-DDACEA41B834}" destId="{0E4A2A6B-F8BC-45CB-A33F-5DFFCAC31835}" srcOrd="0" destOrd="0" presId="urn:microsoft.com/office/officeart/2018/2/layout/IconCircleList"/>
    <dgm:cxn modelId="{DB7EE14B-DA6C-49A3-AC6A-C6703710D5DB}" type="presOf" srcId="{9B60167A-C46F-46D3-ACA8-2B12B7E2B3F7}" destId="{64A4BA14-08D2-4057-ACB5-B4266538E5FC}" srcOrd="0" destOrd="0" presId="urn:microsoft.com/office/officeart/2018/2/layout/IconCircleList"/>
    <dgm:cxn modelId="{8D49906F-0F36-4F03-9410-397E41EC026C}" srcId="{0457A826-D97A-4B80-8EF3-B7EFE43D83C3}" destId="{9B60167A-C46F-46D3-ACA8-2B12B7E2B3F7}" srcOrd="4" destOrd="0" parTransId="{C5A6811F-8B9C-4C16-951C-5C331AF623CD}" sibTransId="{2023487E-42C1-43C9-B74B-434CE71A3B0C}"/>
    <dgm:cxn modelId="{55D4DA86-C51C-4004-A6E1-AE5EF01A209C}" srcId="{0457A826-D97A-4B80-8EF3-B7EFE43D83C3}" destId="{D5A496AC-2D82-427B-8DBD-DDACEA41B834}" srcOrd="2" destOrd="0" parTransId="{A3DB9F21-886E-4BB1-9430-C0AA84D9827E}" sibTransId="{DBE771C4-BC63-4D0F-99D7-2F33CE493DD0}"/>
    <dgm:cxn modelId="{7F75928D-D208-4C22-B09E-1B39D7FDDBDA}" type="presOf" srcId="{03BFE4F7-03B7-426F-8A13-D7CBAF2967BE}" destId="{644392A6-0E26-4A78-AEFB-E1C2D4EA741D}" srcOrd="0" destOrd="0" presId="urn:microsoft.com/office/officeart/2018/2/layout/IconCircleList"/>
    <dgm:cxn modelId="{E6CA49C3-C5F4-4424-8051-883B597C1C3E}" srcId="{0457A826-D97A-4B80-8EF3-B7EFE43D83C3}" destId="{8DDE9CDD-584F-4106-9188-83493CA273B1}" srcOrd="1" destOrd="0" parTransId="{21E219A1-220D-4024-8048-66471DEC03A6}" sibTransId="{E2CAFE67-DB91-43CD-AF7F-0B1589FA32E1}"/>
    <dgm:cxn modelId="{FD1D26D2-24AB-4E63-93F5-44464F8EADFF}" type="presOf" srcId="{E2CAFE67-DB91-43CD-AF7F-0B1589FA32E1}" destId="{75606B48-441B-4AE3-8BBA-D6202C489C19}" srcOrd="0" destOrd="0" presId="urn:microsoft.com/office/officeart/2018/2/layout/IconCircleList"/>
    <dgm:cxn modelId="{C02C73E8-E880-4F72-A626-333C0A40D563}" srcId="{0457A826-D97A-4B80-8EF3-B7EFE43D83C3}" destId="{02CDDEE3-E86E-4BC6-9A3A-66321C68BEDF}" srcOrd="0" destOrd="0" parTransId="{EF0C32DE-8F26-4B94-87AC-A58A152FDB6E}" sibTransId="{03BFE4F7-03B7-426F-8A13-D7CBAF2967BE}"/>
    <dgm:cxn modelId="{9E0457F6-9C7C-4715-BE79-91E6F7BF98BA}" srcId="{0457A826-D97A-4B80-8EF3-B7EFE43D83C3}" destId="{FDFD570D-B812-496F-8559-BD37413967E1}" srcOrd="3" destOrd="0" parTransId="{A1FA0611-1A12-4C6B-9C80-857BFD4FB17A}" sibTransId="{BD8FC695-A8FB-4845-B383-D9BB836EC349}"/>
    <dgm:cxn modelId="{D45353FA-BF86-4D61-942E-7EA4AFD75F71}" type="presOf" srcId="{BD8FC695-A8FB-4845-B383-D9BB836EC349}" destId="{8C613FBB-E93B-49BF-BBCF-28CF9DBFD622}" srcOrd="0" destOrd="0" presId="urn:microsoft.com/office/officeart/2018/2/layout/IconCircleList"/>
    <dgm:cxn modelId="{E8B995FC-405A-4EDA-9958-FFE2B2308DDA}" type="presOf" srcId="{0457A826-D97A-4B80-8EF3-B7EFE43D83C3}" destId="{572C7286-6B87-4758-AAF7-7CA2118D7937}" srcOrd="0" destOrd="0" presId="urn:microsoft.com/office/officeart/2018/2/layout/IconCircleList"/>
    <dgm:cxn modelId="{FAE6B8F8-0474-4783-841F-E46150958425}" type="presParOf" srcId="{572C7286-6B87-4758-AAF7-7CA2118D7937}" destId="{DFFBD0F7-07AE-4C1C-B288-8509A9B05F60}" srcOrd="0" destOrd="0" presId="urn:microsoft.com/office/officeart/2018/2/layout/IconCircleList"/>
    <dgm:cxn modelId="{B1E8C1A8-F5FE-40DC-8E2F-0EE160674587}" type="presParOf" srcId="{DFFBD0F7-07AE-4C1C-B288-8509A9B05F60}" destId="{FACAE643-6DB1-44BC-9A8C-3A9615CF5747}" srcOrd="0" destOrd="0" presId="urn:microsoft.com/office/officeart/2018/2/layout/IconCircleList"/>
    <dgm:cxn modelId="{9E5EEB27-AB68-4892-B96E-C9B0516FA256}" type="presParOf" srcId="{FACAE643-6DB1-44BC-9A8C-3A9615CF5747}" destId="{8A4C7BB0-7287-4F98-955D-33DEB69D95F8}" srcOrd="0" destOrd="0" presId="urn:microsoft.com/office/officeart/2018/2/layout/IconCircleList"/>
    <dgm:cxn modelId="{88D802B4-0DAA-4C8A-853D-94BC9164C698}" type="presParOf" srcId="{FACAE643-6DB1-44BC-9A8C-3A9615CF5747}" destId="{D021B788-CDFC-4532-BDFD-A039EE962568}" srcOrd="1" destOrd="0" presId="urn:microsoft.com/office/officeart/2018/2/layout/IconCircleList"/>
    <dgm:cxn modelId="{B15132B3-269E-4A1D-88B9-D70941FF8C31}" type="presParOf" srcId="{FACAE643-6DB1-44BC-9A8C-3A9615CF5747}" destId="{DC47726D-561E-4D04-9614-2543835D3EBD}" srcOrd="2" destOrd="0" presId="urn:microsoft.com/office/officeart/2018/2/layout/IconCircleList"/>
    <dgm:cxn modelId="{1104D082-CCCC-4CF7-AAF2-C8DCDF8DD2C7}" type="presParOf" srcId="{FACAE643-6DB1-44BC-9A8C-3A9615CF5747}" destId="{897C90AC-F6D4-4DCC-8BC4-C4024C9F4E4F}" srcOrd="3" destOrd="0" presId="urn:microsoft.com/office/officeart/2018/2/layout/IconCircleList"/>
    <dgm:cxn modelId="{E1475342-34CC-4892-B58D-518E221A5DA5}" type="presParOf" srcId="{DFFBD0F7-07AE-4C1C-B288-8509A9B05F60}" destId="{644392A6-0E26-4A78-AEFB-E1C2D4EA741D}" srcOrd="1" destOrd="0" presId="urn:microsoft.com/office/officeart/2018/2/layout/IconCircleList"/>
    <dgm:cxn modelId="{551AB7EC-DBC5-4901-B45D-E00274862EEE}" type="presParOf" srcId="{DFFBD0F7-07AE-4C1C-B288-8509A9B05F60}" destId="{438149BA-5B4C-4E73-B7A2-5C2088438E91}" srcOrd="2" destOrd="0" presId="urn:microsoft.com/office/officeart/2018/2/layout/IconCircleList"/>
    <dgm:cxn modelId="{3EF3B032-A2A2-4005-B98E-858403AD015E}" type="presParOf" srcId="{438149BA-5B4C-4E73-B7A2-5C2088438E91}" destId="{20F108F0-C955-4261-8B92-7246CEE38A4D}" srcOrd="0" destOrd="0" presId="urn:microsoft.com/office/officeart/2018/2/layout/IconCircleList"/>
    <dgm:cxn modelId="{4E9BB169-BE32-4912-9068-C54B5F214B4B}" type="presParOf" srcId="{438149BA-5B4C-4E73-B7A2-5C2088438E91}" destId="{739BE413-7501-4617-B470-FD0E7EFB03DB}" srcOrd="1" destOrd="0" presId="urn:microsoft.com/office/officeart/2018/2/layout/IconCircleList"/>
    <dgm:cxn modelId="{F8BB5D0A-581E-4893-B681-49F6850DF4AA}" type="presParOf" srcId="{438149BA-5B4C-4E73-B7A2-5C2088438E91}" destId="{1E98F3CC-1C15-40BA-A07D-4FA2D27D9B29}" srcOrd="2" destOrd="0" presId="urn:microsoft.com/office/officeart/2018/2/layout/IconCircleList"/>
    <dgm:cxn modelId="{87A7C7BF-FBBE-48EB-A24C-5F47F78AC923}" type="presParOf" srcId="{438149BA-5B4C-4E73-B7A2-5C2088438E91}" destId="{EA88A2D9-B6EA-4A9A-B808-601612B3D12C}" srcOrd="3" destOrd="0" presId="urn:microsoft.com/office/officeart/2018/2/layout/IconCircleList"/>
    <dgm:cxn modelId="{BA92AFD0-1F67-4EA2-BAB3-34CCA0563DB0}" type="presParOf" srcId="{DFFBD0F7-07AE-4C1C-B288-8509A9B05F60}" destId="{75606B48-441B-4AE3-8BBA-D6202C489C19}" srcOrd="3" destOrd="0" presId="urn:microsoft.com/office/officeart/2018/2/layout/IconCircleList"/>
    <dgm:cxn modelId="{9C65316F-09FE-4784-B222-8A92C0BC8588}" type="presParOf" srcId="{DFFBD0F7-07AE-4C1C-B288-8509A9B05F60}" destId="{E201D27B-2B02-4747-8D26-5259181C657F}" srcOrd="4" destOrd="0" presId="urn:microsoft.com/office/officeart/2018/2/layout/IconCircleList"/>
    <dgm:cxn modelId="{573B0281-1050-4790-9836-7C1019252DA4}" type="presParOf" srcId="{E201D27B-2B02-4747-8D26-5259181C657F}" destId="{1241C93A-C548-40F1-9762-B818458CA1A4}" srcOrd="0" destOrd="0" presId="urn:microsoft.com/office/officeart/2018/2/layout/IconCircleList"/>
    <dgm:cxn modelId="{25CC0951-F07C-4B64-947E-FA77209B9A4A}" type="presParOf" srcId="{E201D27B-2B02-4747-8D26-5259181C657F}" destId="{9B26DAD1-9119-4663-8DA9-6F8456F1B026}" srcOrd="1" destOrd="0" presId="urn:microsoft.com/office/officeart/2018/2/layout/IconCircleList"/>
    <dgm:cxn modelId="{367C12A4-2FB3-49A8-BAEF-0AAC40D29489}" type="presParOf" srcId="{E201D27B-2B02-4747-8D26-5259181C657F}" destId="{BEEAAE88-C25A-41A1-80D2-ABF05A2DE6F5}" srcOrd="2" destOrd="0" presId="urn:microsoft.com/office/officeart/2018/2/layout/IconCircleList"/>
    <dgm:cxn modelId="{1F6CB268-6C94-48E1-8BFE-F51D028B4C89}" type="presParOf" srcId="{E201D27B-2B02-4747-8D26-5259181C657F}" destId="{0E4A2A6B-F8BC-45CB-A33F-5DFFCAC31835}" srcOrd="3" destOrd="0" presId="urn:microsoft.com/office/officeart/2018/2/layout/IconCircleList"/>
    <dgm:cxn modelId="{6C795331-1E88-4F05-A055-B9DEFA07B018}" type="presParOf" srcId="{DFFBD0F7-07AE-4C1C-B288-8509A9B05F60}" destId="{7FBBF094-607E-47A6-8C9A-11EE51ED9069}" srcOrd="5" destOrd="0" presId="urn:microsoft.com/office/officeart/2018/2/layout/IconCircleList"/>
    <dgm:cxn modelId="{DA9641C0-2302-457D-9D8E-AB09023E8AE1}" type="presParOf" srcId="{DFFBD0F7-07AE-4C1C-B288-8509A9B05F60}" destId="{725D65C8-2260-45CA-A7B7-1CCCA70DE681}" srcOrd="6" destOrd="0" presId="urn:microsoft.com/office/officeart/2018/2/layout/IconCircleList"/>
    <dgm:cxn modelId="{AA97EFC3-6AB9-47B9-A248-841DFE711F96}" type="presParOf" srcId="{725D65C8-2260-45CA-A7B7-1CCCA70DE681}" destId="{C76032BA-EF7E-4F69-B9E9-31537741BA10}" srcOrd="0" destOrd="0" presId="urn:microsoft.com/office/officeart/2018/2/layout/IconCircleList"/>
    <dgm:cxn modelId="{8DEB34B3-CBB2-4E1C-B360-6E9177A78377}" type="presParOf" srcId="{725D65C8-2260-45CA-A7B7-1CCCA70DE681}" destId="{4B4A7A5F-7759-489D-AE1C-4C5381F37660}" srcOrd="1" destOrd="0" presId="urn:microsoft.com/office/officeart/2018/2/layout/IconCircleList"/>
    <dgm:cxn modelId="{78C6A9D7-E284-4FC3-A4AD-C674B9BB44FD}" type="presParOf" srcId="{725D65C8-2260-45CA-A7B7-1CCCA70DE681}" destId="{3206C3BF-8DDD-4099-A3AA-FFD74000225B}" srcOrd="2" destOrd="0" presId="urn:microsoft.com/office/officeart/2018/2/layout/IconCircleList"/>
    <dgm:cxn modelId="{50EF57ED-04F8-4713-834F-0C4B663E5302}" type="presParOf" srcId="{725D65C8-2260-45CA-A7B7-1CCCA70DE681}" destId="{E3BCAE70-3BDB-4DB5-A7B1-8D9471B6844B}" srcOrd="3" destOrd="0" presId="urn:microsoft.com/office/officeart/2018/2/layout/IconCircleList"/>
    <dgm:cxn modelId="{505F4260-C03C-431C-A0B1-559A329513BA}" type="presParOf" srcId="{DFFBD0F7-07AE-4C1C-B288-8509A9B05F60}" destId="{8C613FBB-E93B-49BF-BBCF-28CF9DBFD622}" srcOrd="7" destOrd="0" presId="urn:microsoft.com/office/officeart/2018/2/layout/IconCircleList"/>
    <dgm:cxn modelId="{182DF691-AD08-4B23-A457-4DA2B9492F0F}" type="presParOf" srcId="{DFFBD0F7-07AE-4C1C-B288-8509A9B05F60}" destId="{8F16CBBC-4A28-42D1-99DD-C57C1429E7ED}" srcOrd="8" destOrd="0" presId="urn:microsoft.com/office/officeart/2018/2/layout/IconCircleList"/>
    <dgm:cxn modelId="{17170EB4-D898-4C1F-B5D5-B42EC90CDE82}" type="presParOf" srcId="{8F16CBBC-4A28-42D1-99DD-C57C1429E7ED}" destId="{2F64811D-6DB3-412D-804B-C3A72E4A40B8}" srcOrd="0" destOrd="0" presId="urn:microsoft.com/office/officeart/2018/2/layout/IconCircleList"/>
    <dgm:cxn modelId="{B2CD4E01-BB94-49F2-ACAF-6C99E46122FB}" type="presParOf" srcId="{8F16CBBC-4A28-42D1-99DD-C57C1429E7ED}" destId="{95699980-F9AC-4E0C-A27F-69726D71B9E5}" srcOrd="1" destOrd="0" presId="urn:microsoft.com/office/officeart/2018/2/layout/IconCircleList"/>
    <dgm:cxn modelId="{D0FAB2A8-50BB-4D20-82EF-6E124E24C9C2}" type="presParOf" srcId="{8F16CBBC-4A28-42D1-99DD-C57C1429E7ED}" destId="{BB48E891-A9A8-4F7A-96A3-D2B14FEDE33A}" srcOrd="2" destOrd="0" presId="urn:microsoft.com/office/officeart/2018/2/layout/IconCircleList"/>
    <dgm:cxn modelId="{F14D1E96-5CCA-45D5-9D71-89A645F302B1}" type="presParOf" srcId="{8F16CBBC-4A28-42D1-99DD-C57C1429E7ED}" destId="{64A4BA14-08D2-4057-ACB5-B4266538E5F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BBF047-12A1-4363-8BD4-1E93F5A710D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03CCA92-49D8-42C2-9BCD-3E83B56249EE}">
      <dgm:prSet/>
      <dgm:spPr/>
      <dgm:t>
        <a:bodyPr/>
        <a:lstStyle/>
        <a:p>
          <a:r>
            <a:rPr lang="en-US"/>
            <a:t>This dashboard provides an interactive overview of sales performance using Power BI. </a:t>
          </a:r>
        </a:p>
      </dgm:t>
    </dgm:pt>
    <dgm:pt modelId="{CFA7E1AD-BE38-4901-8C46-9D6616903DA5}" type="parTrans" cxnId="{11FBA7A0-4ED7-47D9-9444-F57EAA03E518}">
      <dgm:prSet/>
      <dgm:spPr/>
      <dgm:t>
        <a:bodyPr/>
        <a:lstStyle/>
        <a:p>
          <a:endParaRPr lang="en-US"/>
        </a:p>
      </dgm:t>
    </dgm:pt>
    <dgm:pt modelId="{952A6532-BC98-47F6-86F9-BFAD76DEA0E9}" type="sibTrans" cxnId="{11FBA7A0-4ED7-47D9-9444-F57EAA03E518}">
      <dgm:prSet/>
      <dgm:spPr/>
      <dgm:t>
        <a:bodyPr/>
        <a:lstStyle/>
        <a:p>
          <a:endParaRPr lang="en-US"/>
        </a:p>
      </dgm:t>
    </dgm:pt>
    <dgm:pt modelId="{D523D7C1-D4E7-4529-8808-3AC59D73EB0D}">
      <dgm:prSet/>
      <dgm:spPr/>
      <dgm:t>
        <a:bodyPr/>
        <a:lstStyle/>
        <a:p>
          <a:r>
            <a:rPr lang="en-US"/>
            <a:t>It helps users monitor key metrics, identify business trends, compare regional and category performance, and make data-driven decisions through interactive visualizations.</a:t>
          </a:r>
        </a:p>
      </dgm:t>
    </dgm:pt>
    <dgm:pt modelId="{3C48D7F9-779A-4766-8C13-4D3AB884DCF9}" type="parTrans" cxnId="{B4576995-7B80-4931-A50F-A4A9210E1B1A}">
      <dgm:prSet/>
      <dgm:spPr/>
      <dgm:t>
        <a:bodyPr/>
        <a:lstStyle/>
        <a:p>
          <a:endParaRPr lang="en-US"/>
        </a:p>
      </dgm:t>
    </dgm:pt>
    <dgm:pt modelId="{FE108563-E977-4842-972D-B41584278593}" type="sibTrans" cxnId="{B4576995-7B80-4931-A50F-A4A9210E1B1A}">
      <dgm:prSet/>
      <dgm:spPr/>
      <dgm:t>
        <a:bodyPr/>
        <a:lstStyle/>
        <a:p>
          <a:endParaRPr lang="en-US"/>
        </a:p>
      </dgm:t>
    </dgm:pt>
    <dgm:pt modelId="{A1046AE0-2DE8-4D06-968A-EC6916AA748C}" type="pres">
      <dgm:prSet presAssocID="{F6BBF047-12A1-4363-8BD4-1E93F5A710DC}" presName="root" presStyleCnt="0">
        <dgm:presLayoutVars>
          <dgm:dir/>
          <dgm:resizeHandles val="exact"/>
        </dgm:presLayoutVars>
      </dgm:prSet>
      <dgm:spPr/>
    </dgm:pt>
    <dgm:pt modelId="{81C51430-5081-4CD1-AE4F-1EA81F5C7ADF}" type="pres">
      <dgm:prSet presAssocID="{403CCA92-49D8-42C2-9BCD-3E83B56249EE}" presName="compNode" presStyleCnt="0"/>
      <dgm:spPr/>
    </dgm:pt>
    <dgm:pt modelId="{D5B4F83D-3C78-42DF-B4D0-AA33834ECA3B}" type="pres">
      <dgm:prSet presAssocID="{403CCA92-49D8-42C2-9BCD-3E83B56249EE}" presName="bgRect" presStyleLbl="bgShp" presStyleIdx="0" presStyleCnt="2"/>
      <dgm:spPr/>
    </dgm:pt>
    <dgm:pt modelId="{F0D19ECF-2476-4A03-A09F-A7B3CA7F054B}" type="pres">
      <dgm:prSet presAssocID="{403CCA92-49D8-42C2-9BCD-3E83B56249E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403C569-C2F7-4BAA-BD62-BD9BFF230E90}" type="pres">
      <dgm:prSet presAssocID="{403CCA92-49D8-42C2-9BCD-3E83B56249EE}" presName="spaceRect" presStyleCnt="0"/>
      <dgm:spPr/>
    </dgm:pt>
    <dgm:pt modelId="{9C6E5E1B-7518-4394-953E-475AB8B828B6}" type="pres">
      <dgm:prSet presAssocID="{403CCA92-49D8-42C2-9BCD-3E83B56249EE}" presName="parTx" presStyleLbl="revTx" presStyleIdx="0" presStyleCnt="2">
        <dgm:presLayoutVars>
          <dgm:chMax val="0"/>
          <dgm:chPref val="0"/>
        </dgm:presLayoutVars>
      </dgm:prSet>
      <dgm:spPr/>
    </dgm:pt>
    <dgm:pt modelId="{2C41165C-B393-4A54-B88D-5B4F6C5CA4D0}" type="pres">
      <dgm:prSet presAssocID="{952A6532-BC98-47F6-86F9-BFAD76DEA0E9}" presName="sibTrans" presStyleCnt="0"/>
      <dgm:spPr/>
    </dgm:pt>
    <dgm:pt modelId="{7686AA93-BB91-43EF-81B3-ED8EE5FB46CF}" type="pres">
      <dgm:prSet presAssocID="{D523D7C1-D4E7-4529-8808-3AC59D73EB0D}" presName="compNode" presStyleCnt="0"/>
      <dgm:spPr/>
    </dgm:pt>
    <dgm:pt modelId="{FA0C31B5-9A66-4E06-817E-AD420DDA17F9}" type="pres">
      <dgm:prSet presAssocID="{D523D7C1-D4E7-4529-8808-3AC59D73EB0D}" presName="bgRect" presStyleLbl="bgShp" presStyleIdx="1" presStyleCnt="2"/>
      <dgm:spPr/>
    </dgm:pt>
    <dgm:pt modelId="{25F4A754-28F1-4F64-97D4-B3385D8CA144}" type="pres">
      <dgm:prSet presAssocID="{D523D7C1-D4E7-4529-8808-3AC59D73EB0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FF9EEA2-D314-4EAE-BCCD-59E91FCCEE4D}" type="pres">
      <dgm:prSet presAssocID="{D523D7C1-D4E7-4529-8808-3AC59D73EB0D}" presName="spaceRect" presStyleCnt="0"/>
      <dgm:spPr/>
    </dgm:pt>
    <dgm:pt modelId="{44775DFF-0992-4AA8-9050-D1C89C92A98F}" type="pres">
      <dgm:prSet presAssocID="{D523D7C1-D4E7-4529-8808-3AC59D73EB0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D52CA23-5C90-48D1-B2A4-2E424AE45A44}" type="presOf" srcId="{D523D7C1-D4E7-4529-8808-3AC59D73EB0D}" destId="{44775DFF-0992-4AA8-9050-D1C89C92A98F}" srcOrd="0" destOrd="0" presId="urn:microsoft.com/office/officeart/2018/2/layout/IconVerticalSolidList"/>
    <dgm:cxn modelId="{EABDA92B-CC10-4D34-849A-E70FB157F022}" type="presOf" srcId="{F6BBF047-12A1-4363-8BD4-1E93F5A710DC}" destId="{A1046AE0-2DE8-4D06-968A-EC6916AA748C}" srcOrd="0" destOrd="0" presId="urn:microsoft.com/office/officeart/2018/2/layout/IconVerticalSolidList"/>
    <dgm:cxn modelId="{DD58E159-D9E7-4809-B94D-A1A4F7509203}" type="presOf" srcId="{403CCA92-49D8-42C2-9BCD-3E83B56249EE}" destId="{9C6E5E1B-7518-4394-953E-475AB8B828B6}" srcOrd="0" destOrd="0" presId="urn:microsoft.com/office/officeart/2018/2/layout/IconVerticalSolidList"/>
    <dgm:cxn modelId="{B4576995-7B80-4931-A50F-A4A9210E1B1A}" srcId="{F6BBF047-12A1-4363-8BD4-1E93F5A710DC}" destId="{D523D7C1-D4E7-4529-8808-3AC59D73EB0D}" srcOrd="1" destOrd="0" parTransId="{3C48D7F9-779A-4766-8C13-4D3AB884DCF9}" sibTransId="{FE108563-E977-4842-972D-B41584278593}"/>
    <dgm:cxn modelId="{11FBA7A0-4ED7-47D9-9444-F57EAA03E518}" srcId="{F6BBF047-12A1-4363-8BD4-1E93F5A710DC}" destId="{403CCA92-49D8-42C2-9BCD-3E83B56249EE}" srcOrd="0" destOrd="0" parTransId="{CFA7E1AD-BE38-4901-8C46-9D6616903DA5}" sibTransId="{952A6532-BC98-47F6-86F9-BFAD76DEA0E9}"/>
    <dgm:cxn modelId="{93A1DB3A-C61F-4781-BCF0-2BF7C9878949}" type="presParOf" srcId="{A1046AE0-2DE8-4D06-968A-EC6916AA748C}" destId="{81C51430-5081-4CD1-AE4F-1EA81F5C7ADF}" srcOrd="0" destOrd="0" presId="urn:microsoft.com/office/officeart/2018/2/layout/IconVerticalSolidList"/>
    <dgm:cxn modelId="{89F6D67B-3A76-4AD5-A854-7EB0082D92E4}" type="presParOf" srcId="{81C51430-5081-4CD1-AE4F-1EA81F5C7ADF}" destId="{D5B4F83D-3C78-42DF-B4D0-AA33834ECA3B}" srcOrd="0" destOrd="0" presId="urn:microsoft.com/office/officeart/2018/2/layout/IconVerticalSolidList"/>
    <dgm:cxn modelId="{F034C35B-9F27-4B9B-B9A9-E239D8C54C66}" type="presParOf" srcId="{81C51430-5081-4CD1-AE4F-1EA81F5C7ADF}" destId="{F0D19ECF-2476-4A03-A09F-A7B3CA7F054B}" srcOrd="1" destOrd="0" presId="urn:microsoft.com/office/officeart/2018/2/layout/IconVerticalSolidList"/>
    <dgm:cxn modelId="{95F75F76-7EBD-4BF5-9065-BDA0271FE5FF}" type="presParOf" srcId="{81C51430-5081-4CD1-AE4F-1EA81F5C7ADF}" destId="{B403C569-C2F7-4BAA-BD62-BD9BFF230E90}" srcOrd="2" destOrd="0" presId="urn:microsoft.com/office/officeart/2018/2/layout/IconVerticalSolidList"/>
    <dgm:cxn modelId="{CECF95DC-500D-42B4-8B86-2B70DAB7BB80}" type="presParOf" srcId="{81C51430-5081-4CD1-AE4F-1EA81F5C7ADF}" destId="{9C6E5E1B-7518-4394-953E-475AB8B828B6}" srcOrd="3" destOrd="0" presId="urn:microsoft.com/office/officeart/2018/2/layout/IconVerticalSolidList"/>
    <dgm:cxn modelId="{2D250154-1EEC-4BC6-A194-A363ACC41840}" type="presParOf" srcId="{A1046AE0-2DE8-4D06-968A-EC6916AA748C}" destId="{2C41165C-B393-4A54-B88D-5B4F6C5CA4D0}" srcOrd="1" destOrd="0" presId="urn:microsoft.com/office/officeart/2018/2/layout/IconVerticalSolidList"/>
    <dgm:cxn modelId="{EE5EFD7B-1F02-4730-B635-64E698E4B594}" type="presParOf" srcId="{A1046AE0-2DE8-4D06-968A-EC6916AA748C}" destId="{7686AA93-BB91-43EF-81B3-ED8EE5FB46CF}" srcOrd="2" destOrd="0" presId="urn:microsoft.com/office/officeart/2018/2/layout/IconVerticalSolidList"/>
    <dgm:cxn modelId="{0DD0D41F-91A4-47B3-85B7-611759F9E412}" type="presParOf" srcId="{7686AA93-BB91-43EF-81B3-ED8EE5FB46CF}" destId="{FA0C31B5-9A66-4E06-817E-AD420DDA17F9}" srcOrd="0" destOrd="0" presId="urn:microsoft.com/office/officeart/2018/2/layout/IconVerticalSolidList"/>
    <dgm:cxn modelId="{DF7785D4-8E4E-4DA7-A68B-2863895EF82C}" type="presParOf" srcId="{7686AA93-BB91-43EF-81B3-ED8EE5FB46CF}" destId="{25F4A754-28F1-4F64-97D4-B3385D8CA144}" srcOrd="1" destOrd="0" presId="urn:microsoft.com/office/officeart/2018/2/layout/IconVerticalSolidList"/>
    <dgm:cxn modelId="{D7EF92F2-110C-4CB5-A2DC-9E490DF29C71}" type="presParOf" srcId="{7686AA93-BB91-43EF-81B3-ED8EE5FB46CF}" destId="{6FF9EEA2-D314-4EAE-BCCD-59E91FCCEE4D}" srcOrd="2" destOrd="0" presId="urn:microsoft.com/office/officeart/2018/2/layout/IconVerticalSolidList"/>
    <dgm:cxn modelId="{490539E8-6FED-4F6C-8DF0-BE8B2B6C9153}" type="presParOf" srcId="{7686AA93-BB91-43EF-81B3-ED8EE5FB46CF}" destId="{44775DFF-0992-4AA8-9050-D1C89C92A9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1E606A-D6DE-4D53-A221-27713BA98F80}">
      <dsp:nvSpPr>
        <dsp:cNvPr id="0" name=""/>
        <dsp:cNvSpPr/>
      </dsp:nvSpPr>
      <dsp:spPr>
        <a:xfrm>
          <a:off x="990972" y="1242"/>
          <a:ext cx="2827501" cy="169650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Total Sales reached </a:t>
          </a:r>
          <a:r>
            <a:rPr lang="en-US" sz="2500" b="1" kern="1200"/>
            <a:t>2.33 Million</a:t>
          </a:r>
          <a:r>
            <a:rPr lang="en-US" sz="2500" kern="1200"/>
            <a:t>. </a:t>
          </a:r>
        </a:p>
      </dsp:txBody>
      <dsp:txXfrm>
        <a:off x="990972" y="1242"/>
        <a:ext cx="2827501" cy="1696501"/>
      </dsp:txXfrm>
    </dsp:sp>
    <dsp:sp modelId="{F99B8ABD-7B90-4350-B6C6-F8B41F72B061}">
      <dsp:nvSpPr>
        <dsp:cNvPr id="0" name=""/>
        <dsp:cNvSpPr/>
      </dsp:nvSpPr>
      <dsp:spPr>
        <a:xfrm>
          <a:off x="4101224" y="1242"/>
          <a:ext cx="2827501" cy="1696501"/>
        </a:xfrm>
        <a:prstGeom prst="rect">
          <a:avLst/>
        </a:prstGeom>
        <a:solidFill>
          <a:schemeClr val="accent2">
            <a:hueOff val="238347"/>
            <a:satOff val="1383"/>
            <a:lumOff val="1373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Total Profit was </a:t>
          </a:r>
          <a:r>
            <a:rPr lang="en-US" sz="2500" b="1" kern="1200"/>
            <a:t>292.30 Thousand</a:t>
          </a:r>
          <a:r>
            <a:rPr lang="en-US" sz="2500" kern="1200"/>
            <a:t> with a </a:t>
          </a:r>
          <a:r>
            <a:rPr lang="en-US" sz="2500" b="1" kern="1200"/>
            <a:t>12.56% Profit Margin</a:t>
          </a:r>
          <a:r>
            <a:rPr lang="en-US" sz="2500" kern="1200"/>
            <a:t>. </a:t>
          </a:r>
        </a:p>
      </dsp:txBody>
      <dsp:txXfrm>
        <a:off x="4101224" y="1242"/>
        <a:ext cx="2827501" cy="1696501"/>
      </dsp:txXfrm>
    </dsp:sp>
    <dsp:sp modelId="{38C62622-5EDE-41D1-B0C9-FF21019244B1}">
      <dsp:nvSpPr>
        <dsp:cNvPr id="0" name=""/>
        <dsp:cNvSpPr/>
      </dsp:nvSpPr>
      <dsp:spPr>
        <a:xfrm>
          <a:off x="7211476" y="1242"/>
          <a:ext cx="2827501" cy="1696501"/>
        </a:xfrm>
        <a:prstGeom prst="rect">
          <a:avLst/>
        </a:prstGeom>
        <a:solidFill>
          <a:schemeClr val="accent2">
            <a:hueOff val="476694"/>
            <a:satOff val="2765"/>
            <a:lumOff val="2746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Technology generated the highest sales. </a:t>
          </a:r>
        </a:p>
      </dsp:txBody>
      <dsp:txXfrm>
        <a:off x="7211476" y="1242"/>
        <a:ext cx="2827501" cy="1696501"/>
      </dsp:txXfrm>
    </dsp:sp>
    <dsp:sp modelId="{F4C30AAA-4F05-4B65-92F0-8A5C83FDBBB8}">
      <dsp:nvSpPr>
        <dsp:cNvPr id="0" name=""/>
        <dsp:cNvSpPr/>
      </dsp:nvSpPr>
      <dsp:spPr>
        <a:xfrm>
          <a:off x="990972" y="1980494"/>
          <a:ext cx="2827501" cy="1696501"/>
        </a:xfrm>
        <a:prstGeom prst="rect">
          <a:avLst/>
        </a:prstGeom>
        <a:solidFill>
          <a:schemeClr val="accent2">
            <a:hueOff val="715041"/>
            <a:satOff val="4148"/>
            <a:lumOff val="4118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West region recorded the highest sales. </a:t>
          </a:r>
        </a:p>
      </dsp:txBody>
      <dsp:txXfrm>
        <a:off x="990972" y="1980494"/>
        <a:ext cx="2827501" cy="1696501"/>
      </dsp:txXfrm>
    </dsp:sp>
    <dsp:sp modelId="{609D3315-8AC7-4B6E-9F37-4AC6D024239F}">
      <dsp:nvSpPr>
        <dsp:cNvPr id="0" name=""/>
        <dsp:cNvSpPr/>
      </dsp:nvSpPr>
      <dsp:spPr>
        <a:xfrm>
          <a:off x="4101224" y="1980494"/>
          <a:ext cx="2827501" cy="1696501"/>
        </a:xfrm>
        <a:prstGeom prst="rect">
          <a:avLst/>
        </a:prstGeom>
        <a:solidFill>
          <a:schemeClr val="accent2">
            <a:hueOff val="953388"/>
            <a:satOff val="5530"/>
            <a:lumOff val="5491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Consumer segment contributed the largest share of revenue. </a:t>
          </a:r>
        </a:p>
      </dsp:txBody>
      <dsp:txXfrm>
        <a:off x="4101224" y="1980494"/>
        <a:ext cx="2827501" cy="1696501"/>
      </dsp:txXfrm>
    </dsp:sp>
    <dsp:sp modelId="{799EC2B6-ABE8-4448-8881-DDB2843DC66E}">
      <dsp:nvSpPr>
        <dsp:cNvPr id="0" name=""/>
        <dsp:cNvSpPr/>
      </dsp:nvSpPr>
      <dsp:spPr>
        <a:xfrm>
          <a:off x="7211476" y="1980494"/>
          <a:ext cx="2827501" cy="1696501"/>
        </a:xfrm>
        <a:prstGeom prst="rect">
          <a:avLst/>
        </a:prstGeom>
        <a:solidFill>
          <a:schemeClr val="accent2">
            <a:hueOff val="1191735"/>
            <a:satOff val="6913"/>
            <a:lumOff val="6864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Tables showed negative profitability and require further analysis.</a:t>
          </a:r>
        </a:p>
      </dsp:txBody>
      <dsp:txXfrm>
        <a:off x="7211476" y="1980494"/>
        <a:ext cx="2827501" cy="16965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C7BB0-7287-4F98-955D-33DEB69D95F8}">
      <dsp:nvSpPr>
        <dsp:cNvPr id="0" name=""/>
        <dsp:cNvSpPr/>
      </dsp:nvSpPr>
      <dsp:spPr>
        <a:xfrm>
          <a:off x="235853" y="611259"/>
          <a:ext cx="915236" cy="91523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21B788-CDFC-4532-BDFD-A039EE962568}">
      <dsp:nvSpPr>
        <dsp:cNvPr id="0" name=""/>
        <dsp:cNvSpPr/>
      </dsp:nvSpPr>
      <dsp:spPr>
        <a:xfrm>
          <a:off x="428053" y="803458"/>
          <a:ext cx="530837" cy="5308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7C90AC-F6D4-4DCC-8BC4-C4024C9F4E4F}">
      <dsp:nvSpPr>
        <dsp:cNvPr id="0" name=""/>
        <dsp:cNvSpPr/>
      </dsp:nvSpPr>
      <dsp:spPr>
        <a:xfrm>
          <a:off x="1347212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Increase focus on Technology products. </a:t>
          </a:r>
        </a:p>
      </dsp:txBody>
      <dsp:txXfrm>
        <a:off x="1347212" y="611259"/>
        <a:ext cx="2157343" cy="915236"/>
      </dsp:txXfrm>
    </dsp:sp>
    <dsp:sp modelId="{20F108F0-C955-4261-8B92-7246CEE38A4D}">
      <dsp:nvSpPr>
        <dsp:cNvPr id="0" name=""/>
        <dsp:cNvSpPr/>
      </dsp:nvSpPr>
      <dsp:spPr>
        <a:xfrm>
          <a:off x="3880456" y="611259"/>
          <a:ext cx="915236" cy="91523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9BE413-7501-4617-B470-FD0E7EFB03DB}">
      <dsp:nvSpPr>
        <dsp:cNvPr id="0" name=""/>
        <dsp:cNvSpPr/>
      </dsp:nvSpPr>
      <dsp:spPr>
        <a:xfrm>
          <a:off x="4072656" y="803458"/>
          <a:ext cx="530837" cy="5308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88A2D9-B6EA-4A9A-B808-601612B3D12C}">
      <dsp:nvSpPr>
        <dsp:cNvPr id="0" name=""/>
        <dsp:cNvSpPr/>
      </dsp:nvSpPr>
      <dsp:spPr>
        <a:xfrm>
          <a:off x="4991815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Review pricing and discounts for low-profit products. </a:t>
          </a:r>
        </a:p>
      </dsp:txBody>
      <dsp:txXfrm>
        <a:off x="4991815" y="611259"/>
        <a:ext cx="2157343" cy="915236"/>
      </dsp:txXfrm>
    </dsp:sp>
    <dsp:sp modelId="{1241C93A-C548-40F1-9762-B818458CA1A4}">
      <dsp:nvSpPr>
        <dsp:cNvPr id="0" name=""/>
        <dsp:cNvSpPr/>
      </dsp:nvSpPr>
      <dsp:spPr>
        <a:xfrm>
          <a:off x="7525059" y="611259"/>
          <a:ext cx="915236" cy="91523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26DAD1-9119-4663-8DA9-6F8456F1B026}">
      <dsp:nvSpPr>
        <dsp:cNvPr id="0" name=""/>
        <dsp:cNvSpPr/>
      </dsp:nvSpPr>
      <dsp:spPr>
        <a:xfrm>
          <a:off x="7717258" y="803458"/>
          <a:ext cx="530837" cy="5308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A2A6B-F8BC-45CB-A33F-5DFFCAC31835}">
      <dsp:nvSpPr>
        <dsp:cNvPr id="0" name=""/>
        <dsp:cNvSpPr/>
      </dsp:nvSpPr>
      <dsp:spPr>
        <a:xfrm>
          <a:off x="8636417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Strengthen marketing in high-performing regions. </a:t>
          </a:r>
        </a:p>
      </dsp:txBody>
      <dsp:txXfrm>
        <a:off x="8636417" y="611259"/>
        <a:ext cx="2157343" cy="915236"/>
      </dsp:txXfrm>
    </dsp:sp>
    <dsp:sp modelId="{C76032BA-EF7E-4F69-B9E9-31537741BA10}">
      <dsp:nvSpPr>
        <dsp:cNvPr id="0" name=""/>
        <dsp:cNvSpPr/>
      </dsp:nvSpPr>
      <dsp:spPr>
        <a:xfrm>
          <a:off x="235853" y="2151807"/>
          <a:ext cx="915236" cy="91523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A7A5F-7759-489D-AE1C-4C5381F37660}">
      <dsp:nvSpPr>
        <dsp:cNvPr id="0" name=""/>
        <dsp:cNvSpPr/>
      </dsp:nvSpPr>
      <dsp:spPr>
        <a:xfrm>
          <a:off x="428053" y="2344006"/>
          <a:ext cx="530837" cy="5308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CAE70-3BDB-4DB5-A7B1-8D9471B6844B}">
      <dsp:nvSpPr>
        <dsp:cNvPr id="0" name=""/>
        <dsp:cNvSpPr/>
      </dsp:nvSpPr>
      <dsp:spPr>
        <a:xfrm>
          <a:off x="1347212" y="2151807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 dashboard filters for better decision-making. </a:t>
          </a:r>
        </a:p>
      </dsp:txBody>
      <dsp:txXfrm>
        <a:off x="1347212" y="2151807"/>
        <a:ext cx="2157343" cy="915236"/>
      </dsp:txXfrm>
    </dsp:sp>
    <dsp:sp modelId="{2F64811D-6DB3-412D-804B-C3A72E4A40B8}">
      <dsp:nvSpPr>
        <dsp:cNvPr id="0" name=""/>
        <dsp:cNvSpPr/>
      </dsp:nvSpPr>
      <dsp:spPr>
        <a:xfrm>
          <a:off x="3880456" y="2151807"/>
          <a:ext cx="915236" cy="91523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99980-F9AC-4E0C-A27F-69726D71B9E5}">
      <dsp:nvSpPr>
        <dsp:cNvPr id="0" name=""/>
        <dsp:cNvSpPr/>
      </dsp:nvSpPr>
      <dsp:spPr>
        <a:xfrm>
          <a:off x="4072656" y="2344006"/>
          <a:ext cx="530837" cy="5308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4BA14-08D2-4057-ACB5-B4266538E5FC}">
      <dsp:nvSpPr>
        <dsp:cNvPr id="0" name=""/>
        <dsp:cNvSpPr/>
      </dsp:nvSpPr>
      <dsp:spPr>
        <a:xfrm>
          <a:off x="4991815" y="2151807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Monitor KPIs regularly to improve business performance.</a:t>
          </a:r>
        </a:p>
      </dsp:txBody>
      <dsp:txXfrm>
        <a:off x="4991815" y="2151807"/>
        <a:ext cx="2157343" cy="915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B4F83D-3C78-42DF-B4D0-AA33834ECA3B}">
      <dsp:nvSpPr>
        <dsp:cNvPr id="0" name=""/>
        <dsp:cNvSpPr/>
      </dsp:nvSpPr>
      <dsp:spPr>
        <a:xfrm>
          <a:off x="0" y="765233"/>
          <a:ext cx="7012370" cy="14127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D19ECF-2476-4A03-A09F-A7B3CA7F054B}">
      <dsp:nvSpPr>
        <dsp:cNvPr id="0" name=""/>
        <dsp:cNvSpPr/>
      </dsp:nvSpPr>
      <dsp:spPr>
        <a:xfrm>
          <a:off x="427353" y="1083100"/>
          <a:ext cx="777006" cy="77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E5E1B-7518-4394-953E-475AB8B828B6}">
      <dsp:nvSpPr>
        <dsp:cNvPr id="0" name=""/>
        <dsp:cNvSpPr/>
      </dsp:nvSpPr>
      <dsp:spPr>
        <a:xfrm>
          <a:off x="1631713" y="765233"/>
          <a:ext cx="5380656" cy="1412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515" tIns="149515" rIns="149515" bIns="14951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This dashboard provides an interactive overview of sales performance using Power BI. </a:t>
          </a:r>
        </a:p>
      </dsp:txBody>
      <dsp:txXfrm>
        <a:off x="1631713" y="765233"/>
        <a:ext cx="5380656" cy="1412739"/>
      </dsp:txXfrm>
    </dsp:sp>
    <dsp:sp modelId="{FA0C31B5-9A66-4E06-817E-AD420DDA17F9}">
      <dsp:nvSpPr>
        <dsp:cNvPr id="0" name=""/>
        <dsp:cNvSpPr/>
      </dsp:nvSpPr>
      <dsp:spPr>
        <a:xfrm>
          <a:off x="0" y="2531157"/>
          <a:ext cx="7012370" cy="14127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F4A754-28F1-4F64-97D4-B3385D8CA144}">
      <dsp:nvSpPr>
        <dsp:cNvPr id="0" name=""/>
        <dsp:cNvSpPr/>
      </dsp:nvSpPr>
      <dsp:spPr>
        <a:xfrm>
          <a:off x="427353" y="2849024"/>
          <a:ext cx="777006" cy="777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775DFF-0992-4AA8-9050-D1C89C92A98F}">
      <dsp:nvSpPr>
        <dsp:cNvPr id="0" name=""/>
        <dsp:cNvSpPr/>
      </dsp:nvSpPr>
      <dsp:spPr>
        <a:xfrm>
          <a:off x="1631713" y="2531157"/>
          <a:ext cx="5380656" cy="14127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515" tIns="149515" rIns="149515" bIns="14951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It helps users monitor key metrics, identify business trends, compare regional and category performance, and make data-driven decisions through interactive visualizations.</a:t>
          </a:r>
        </a:p>
      </dsp:txBody>
      <dsp:txXfrm>
        <a:off x="1631713" y="2531157"/>
        <a:ext cx="5380656" cy="14127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4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1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3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76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9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64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91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33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1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8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2856AEC3-887B-426F-B49C-314B4A810F0B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BDA65A1-73A8-4525-A378-CD21D1D6629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9759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6062A-2D5E-CD30-F91F-A264F8910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435509"/>
            <a:ext cx="10993549" cy="686309"/>
          </a:xfrm>
        </p:spPr>
        <p:txBody>
          <a:bodyPr/>
          <a:lstStyle/>
          <a:p>
            <a:r>
              <a:rPr lang="en-US" dirty="0"/>
              <a:t>SALES ANALYTICS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42C32-61E2-AC70-2293-49F9F7CBF8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ELEVATE LABS Data Analyst Internship – Task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FB85F-8DF8-B85E-442A-53F39E7A4AB8}"/>
              </a:ext>
            </a:extLst>
          </p:cNvPr>
          <p:cNvSpPr txBox="1"/>
          <p:nvPr/>
        </p:nvSpPr>
        <p:spPr>
          <a:xfrm>
            <a:off x="6137500" y="4487182"/>
            <a:ext cx="54372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Prepared by : Thomas Aldo P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Tools: Microsoft Power BI | Power Query | DAX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Dataset: Sample Superstore Dataset</a:t>
            </a:r>
          </a:p>
        </p:txBody>
      </p:sp>
    </p:spTree>
    <p:extLst>
      <p:ext uri="{BB962C8B-B14F-4D97-AF65-F5344CB8AC3E}">
        <p14:creationId xmlns:p14="http://schemas.microsoft.com/office/powerpoint/2010/main" val="1272730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8274-E629-7C5B-B22A-0D1A717D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73BB1-921D-EC69-A541-BB9A48521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06" y="1843775"/>
            <a:ext cx="3253388" cy="3215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Objective:</a:t>
            </a:r>
          </a:p>
          <a:p>
            <a:r>
              <a:rPr lang="en-US" dirty="0"/>
              <a:t>Design an interactive Power BI dashboard that enables business stakeholders to monitor sales performance, profitability, customer segments, and regional trends through dynamic visualizations and filters.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15BEB9-6C16-8219-871A-D00A2AB04D4B}"/>
              </a:ext>
            </a:extLst>
          </p:cNvPr>
          <p:cNvSpPr txBox="1"/>
          <p:nvPr/>
        </p:nvSpPr>
        <p:spPr>
          <a:xfrm>
            <a:off x="4557252" y="1843775"/>
            <a:ext cx="30774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Dataset:</a:t>
            </a:r>
            <a:r>
              <a:rPr lang="en-US" dirty="0"/>
              <a:t> Sample Superstore</a:t>
            </a:r>
          </a:p>
          <a:p>
            <a:endParaRPr lang="en-US" dirty="0"/>
          </a:p>
          <a:p>
            <a:r>
              <a:rPr lang="en-US" b="1" dirty="0"/>
              <a:t>Key Attributes:</a:t>
            </a:r>
            <a:endParaRPr lang="en-US" dirty="0"/>
          </a:p>
          <a:p>
            <a:r>
              <a:rPr lang="en-US" dirty="0"/>
              <a:t>Order Date </a:t>
            </a:r>
          </a:p>
          <a:p>
            <a:r>
              <a:rPr lang="en-US" dirty="0"/>
              <a:t>Sales </a:t>
            </a:r>
          </a:p>
          <a:p>
            <a:r>
              <a:rPr lang="en-US" dirty="0"/>
              <a:t>Profit </a:t>
            </a:r>
          </a:p>
          <a:p>
            <a:r>
              <a:rPr lang="en-US" dirty="0"/>
              <a:t>Quantity </a:t>
            </a:r>
          </a:p>
          <a:p>
            <a:r>
              <a:rPr lang="en-US" dirty="0"/>
              <a:t>Region </a:t>
            </a:r>
          </a:p>
          <a:p>
            <a:r>
              <a:rPr lang="en-US" dirty="0"/>
              <a:t>Category </a:t>
            </a:r>
          </a:p>
          <a:p>
            <a:r>
              <a:rPr lang="en-US" dirty="0"/>
              <a:t>Sub-Category </a:t>
            </a:r>
          </a:p>
          <a:p>
            <a:r>
              <a:rPr lang="en-US" dirty="0"/>
              <a:t>Customer Segment </a:t>
            </a:r>
          </a:p>
          <a:p>
            <a:r>
              <a:rPr lang="en-US" dirty="0"/>
              <a:t>Product Information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FB322-0FC2-AF83-598E-58261D8B9E62}"/>
              </a:ext>
            </a:extLst>
          </p:cNvPr>
          <p:cNvSpPr txBox="1"/>
          <p:nvPr/>
        </p:nvSpPr>
        <p:spPr>
          <a:xfrm>
            <a:off x="9005259" y="1843775"/>
            <a:ext cx="27235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Tools Used:</a:t>
            </a:r>
          </a:p>
          <a:p>
            <a:endParaRPr lang="en-US" b="1" dirty="0"/>
          </a:p>
          <a:p>
            <a:r>
              <a:rPr lang="en-US" dirty="0"/>
              <a:t>Microsoft Power BI </a:t>
            </a:r>
          </a:p>
          <a:p>
            <a:r>
              <a:rPr lang="en-US" dirty="0"/>
              <a:t>Power Query </a:t>
            </a:r>
          </a:p>
          <a:p>
            <a:r>
              <a:rPr lang="en-US" dirty="0"/>
              <a:t>DAX </a:t>
            </a:r>
          </a:p>
          <a:p>
            <a:r>
              <a:rPr lang="en-US" dirty="0"/>
              <a:t>CSV Dataset </a:t>
            </a:r>
          </a:p>
          <a:p>
            <a:endParaRPr lang="en-US" dirty="0"/>
          </a:p>
          <a:p>
            <a:r>
              <a:rPr lang="en-US" b="1" dirty="0"/>
              <a:t>Dashboard Features:</a:t>
            </a:r>
          </a:p>
          <a:p>
            <a:endParaRPr lang="en-US" b="1" dirty="0"/>
          </a:p>
          <a:p>
            <a:r>
              <a:rPr lang="en-US" dirty="0"/>
              <a:t>KPI Cards </a:t>
            </a:r>
          </a:p>
          <a:p>
            <a:r>
              <a:rPr lang="en-US" dirty="0"/>
              <a:t>Interactive Slicers </a:t>
            </a:r>
          </a:p>
          <a:p>
            <a:r>
              <a:rPr lang="en-US" dirty="0"/>
              <a:t>Time-Series Analysis </a:t>
            </a:r>
          </a:p>
          <a:p>
            <a:r>
              <a:rPr lang="en-US" dirty="0"/>
              <a:t>Regional Sales Analysis </a:t>
            </a:r>
          </a:p>
          <a:p>
            <a:r>
              <a:rPr lang="en-US" dirty="0"/>
              <a:t>Category Performance </a:t>
            </a:r>
          </a:p>
          <a:p>
            <a:r>
              <a:rPr lang="en-US" dirty="0"/>
              <a:t>Profitability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65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5A3C7-CA31-2665-B1F8-390FF636A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Dashboard includes: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9A963-210C-6D17-D276-0F70C27BF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110" y="2052084"/>
            <a:ext cx="3033249" cy="38562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1600">
                <a:solidFill>
                  <a:srgbClr val="FFFFFF"/>
                </a:solidFill>
              </a:rPr>
              <a:t>Total Sales</a:t>
            </a:r>
          </a:p>
          <a:p>
            <a:pPr marL="285750" indent="-285750"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1600">
                <a:solidFill>
                  <a:srgbClr val="FFFFFF"/>
                </a:solidFill>
              </a:rPr>
              <a:t>Total Profit</a:t>
            </a:r>
          </a:p>
          <a:p>
            <a:pPr marL="285750" indent="-285750"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1600">
                <a:solidFill>
                  <a:srgbClr val="FFFFFF"/>
                </a:solidFill>
              </a:rPr>
              <a:t>Total Orders</a:t>
            </a:r>
          </a:p>
          <a:p>
            <a:pPr marL="285750" indent="-285750"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1600">
                <a:solidFill>
                  <a:srgbClr val="FFFFFF"/>
                </a:solidFill>
              </a:rPr>
              <a:t>Total Quantity</a:t>
            </a:r>
          </a:p>
          <a:p>
            <a:pPr marL="285750" indent="-285750"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1600">
                <a:solidFill>
                  <a:srgbClr val="FFFFFF"/>
                </a:solidFill>
              </a:rPr>
              <a:t>Profit Margin</a:t>
            </a:r>
          </a:p>
          <a:p>
            <a:pPr marL="285750" indent="-285750"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1600">
                <a:solidFill>
                  <a:srgbClr val="FFFFFF"/>
                </a:solidFill>
              </a:rPr>
              <a:t>Sales Trend</a:t>
            </a:r>
          </a:p>
          <a:p>
            <a:pPr marL="285750" indent="-285750"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1600">
                <a:solidFill>
                  <a:srgbClr val="FFFFFF"/>
                </a:solidFill>
              </a:rPr>
              <a:t>Sales by Category</a:t>
            </a:r>
          </a:p>
          <a:p>
            <a:pPr marL="285750" indent="-285750"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1600">
                <a:solidFill>
                  <a:srgbClr val="FFFFFF"/>
                </a:solidFill>
              </a:rPr>
              <a:t>Profit by Sub-Category</a:t>
            </a:r>
          </a:p>
          <a:p>
            <a:pPr marL="285750" indent="-285750"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1600">
                <a:solidFill>
                  <a:srgbClr val="FFFFFF"/>
                </a:solidFill>
              </a:rPr>
              <a:t>Sales by Region</a:t>
            </a:r>
          </a:p>
          <a:p>
            <a:pPr marL="285750" indent="-285750"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1600">
                <a:solidFill>
                  <a:srgbClr val="FFFFFF"/>
                </a:solidFill>
              </a:rPr>
              <a:t>Sales by Segment</a:t>
            </a:r>
          </a:p>
          <a:p>
            <a:pPr marL="285750" indent="-285750">
              <a:lnSpc>
                <a:spcPct val="90000"/>
              </a:lnSpc>
              <a:buFont typeface="Wingdings 2" panose="05020102010507070707" pitchFamily="18" charset="2"/>
              <a:buChar char=""/>
            </a:pPr>
            <a:r>
              <a:rPr lang="en-US" sz="1600">
                <a:solidFill>
                  <a:srgbClr val="FFFFFF"/>
                </a:solidFill>
              </a:rPr>
              <a:t>Interactive Filters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057DC89-CF82-4B62-E983-79EA12DF332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" b="474"/>
          <a:stretch>
            <a:fillRect/>
          </a:stretch>
        </p:blipFill>
        <p:spPr>
          <a:xfrm>
            <a:off x="4568800" y="1523968"/>
            <a:ext cx="6866506" cy="380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6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3785-A2BF-A879-0930-1A3D7414C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EFF"/>
                </a:solidFill>
              </a:rPr>
              <a:t>Key Insights:</a:t>
            </a:r>
            <a:endParaRPr lang="en-US">
              <a:solidFill>
                <a:srgbClr val="FFFE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7ADB14-5F91-BEE8-D4BB-C84E04A144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167819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9781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56EB-C752-23ED-CB09-04AF12A90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RECOMMENDATIONS: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0E602BA-4DA4-8A10-20A7-85C7FFBD40D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0857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5F28DDD-9641-43BA-944D-79B068705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rgbClr val="FFF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540E39-393F-728F-0557-AC6D8C954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228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CONCLUSION: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AA2954-062E-4B72-A97B-0B066FB15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CA29A6-E0B1-40CD-ADF7-7B8E932A3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D5F866-AD72-475A-B6C6-54E4577D4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2BAD4C-6EA9-4F10-92D4-A1C8C53DA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8"/>
            <a:ext cx="7498616" cy="567690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046E29FD-E239-8DBE-2CA3-AF321F1D7C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4715444"/>
              </p:ext>
            </p:extLst>
          </p:nvPr>
        </p:nvGraphicFramePr>
        <p:xfrm>
          <a:off x="4598438" y="1037967"/>
          <a:ext cx="7012370" cy="47091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9937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28</TotalTime>
  <Words>270</Words>
  <Application>Microsoft Office PowerPoint</Application>
  <PresentationFormat>Widescreen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Gill Sans MT</vt:lpstr>
      <vt:lpstr>Wingdings 2</vt:lpstr>
      <vt:lpstr>Dividend</vt:lpstr>
      <vt:lpstr>SALES ANALYTICS DASHBOARD</vt:lpstr>
      <vt:lpstr>Project Overview</vt:lpstr>
      <vt:lpstr>Dashboard includes:</vt:lpstr>
      <vt:lpstr>Key Insights:</vt:lpstr>
      <vt:lpstr>BUSINESS RECOMMENDATIONS: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Aldo</dc:creator>
  <cp:lastModifiedBy>Thomas Aldo</cp:lastModifiedBy>
  <cp:revision>1</cp:revision>
  <dcterms:created xsi:type="dcterms:W3CDTF">2026-07-11T11:01:36Z</dcterms:created>
  <dcterms:modified xsi:type="dcterms:W3CDTF">2026-07-11T11:30:30Z</dcterms:modified>
</cp:coreProperties>
</file>